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3" r:id="rId4"/>
    <p:sldId id="266" r:id="rId5"/>
    <p:sldId id="267" r:id="rId6"/>
    <p:sldId id="258" r:id="rId7"/>
    <p:sldId id="259" r:id="rId8"/>
    <p:sldId id="265" r:id="rId9"/>
    <p:sldId id="264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2" d="100"/>
          <a:sy n="62" d="100"/>
        </p:scale>
        <p:origin x="79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87837B-879F-40B5-90E9-4876B21498F7}" type="datetimeFigureOut">
              <a:rPr lang="en-ID" smtClean="0"/>
              <a:t>07/04/2026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838AFA-1AF2-4760-92DE-C5C372081E8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12438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A2C4D3-3C99-401B-9B51-83430D68CE50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8291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BA63A-8B24-AF47-3B28-9AF2771C8A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C82260-FEE6-24C6-CE4B-0269C47B8D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A349D-75A0-2814-59F8-640BBF555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59092-E03F-4E47-B799-026A19610131}" type="datetimeFigureOut">
              <a:rPr lang="en-ID" smtClean="0"/>
              <a:t>07/04/2026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64E1E-0D72-5478-3739-B52DF941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C0BD2-8562-7EFB-6208-90076A01C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EF1D-878F-4F92-B81F-388650C191B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2510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9A243-7BF8-569A-900C-F07DE263B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9F309-B057-88CB-1DF0-DA5B41DB8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77053-27B4-70FB-5C1D-174A2E4BF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59092-E03F-4E47-B799-026A19610131}" type="datetimeFigureOut">
              <a:rPr lang="en-ID" smtClean="0"/>
              <a:t>07/04/2026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529E0-EAE9-EC6A-CE8F-951B8B135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EB11F-9A80-6DC3-86CA-38178A68A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EF1D-878F-4F92-B81F-388650C191B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76582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D8A0C-B020-4E95-47E4-9554564D5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5C463-2145-47FF-E195-1E5268A03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0452F-B6B8-3C6E-12A2-25473623E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59092-E03F-4E47-B799-026A19610131}" type="datetimeFigureOut">
              <a:rPr lang="en-ID" smtClean="0"/>
              <a:t>07/04/2026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FF3AC-7F9E-2B4F-E2AB-8041C4686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03AD9-C627-19CD-D916-5754641BB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EF1D-878F-4F92-B81F-388650C191B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14187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417C3-95A3-3CB4-859B-C54075805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DC1B4-E274-33B9-AFCE-C057092A7D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FD2EC2-EE61-E729-6B14-D4E0A288D9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70647-24EF-E41B-0795-6BC2AB956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59092-E03F-4E47-B799-026A19610131}" type="datetimeFigureOut">
              <a:rPr lang="en-ID" smtClean="0"/>
              <a:t>07/04/2026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72716-2033-ED9B-F10B-A3CE2795A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F4844-BA5F-20DA-61D5-CEC81E568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EF1D-878F-4F92-B81F-388650C191B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44949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10C9B-E18D-90AB-A8C2-16EA75E09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E429C-6D6F-3C3F-FEB2-12DFD6363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649465-4A72-E11C-4299-5951F3C94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C1BD60-2D07-9C40-7B13-3B9D134B68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B4214A-AF35-F7ED-34DD-02F59A3437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3A4C93-86E0-9F15-CD0D-EDCB804F2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59092-E03F-4E47-B799-026A19610131}" type="datetimeFigureOut">
              <a:rPr lang="en-ID" smtClean="0"/>
              <a:t>07/04/2026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F06B17-3483-E6D7-A6B1-95D277502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7CB1A6-A219-2727-6538-13A950BF9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EF1D-878F-4F92-B81F-388650C191B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57621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629FE-1B23-A8B8-3E32-975522020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9C4E30-F878-9DA0-BD24-3E6A4B689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59092-E03F-4E47-B799-026A19610131}" type="datetimeFigureOut">
              <a:rPr lang="en-ID" smtClean="0"/>
              <a:t>07/04/2026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3E25D2-0983-E901-4764-49DED7E88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106752-0B49-CB30-11FD-B4554607B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EF1D-878F-4F92-B81F-388650C191B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69872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DE8EB6-51CB-7E47-78E1-8A9C0215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59092-E03F-4E47-B799-026A19610131}" type="datetimeFigureOut">
              <a:rPr lang="en-ID" smtClean="0"/>
              <a:t>07/04/2026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FB48F3-31F7-544B-0CFD-0AF95A38F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91959-2419-2DCE-DD2F-305582373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EF1D-878F-4F92-B81F-388650C191B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17179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A27BD-93EB-A7B9-B306-09BD64D41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33724-B3B7-E97B-8DF3-ED0D4DD2E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4E5FF4-99A5-A767-F2AB-2BBE58F15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32878-C3AD-B224-CB8D-878677049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59092-E03F-4E47-B799-026A19610131}" type="datetimeFigureOut">
              <a:rPr lang="en-ID" smtClean="0"/>
              <a:t>07/04/2026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40733A-C612-F1D2-5A9D-22BD5AFB1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39CE5E-5CFC-129A-B8F5-143F8B512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EF1D-878F-4F92-B81F-388650C191B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02372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10D19-00F7-DE8D-D637-71F4E9A05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717978-C492-B066-622D-7AA23C9264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A7B2A2-78A2-F428-246F-D506DAEB4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2B3C0-5453-53A5-3286-C4C719E84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59092-E03F-4E47-B799-026A19610131}" type="datetimeFigureOut">
              <a:rPr lang="en-ID" smtClean="0"/>
              <a:t>07/04/2026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7646AD-C82E-B99E-E70C-D074F9BB9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CE3C5-C049-A58F-7CA4-3BF2A4F24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EF1D-878F-4F92-B81F-388650C191B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70729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8F1EA-4427-EFBA-AC7D-7FC0DA3C9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134C3B-A248-2E69-62C9-4DD004F35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08030-7B99-985E-26DC-819CE9F3D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59092-E03F-4E47-B799-026A19610131}" type="datetimeFigureOut">
              <a:rPr lang="en-ID" smtClean="0"/>
              <a:t>07/04/2026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1F6D6-B500-24B4-2797-8B450FB2A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A47E9-C77F-FD9A-0988-803E39E93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EF1D-878F-4F92-B81F-388650C191B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76749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5BB82D-8676-D7E1-1D38-D8A9AE672E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AEFB3-C17A-E753-D91A-B2437E289E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664E4-2C09-BF2A-3A5A-0D31648AF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59092-E03F-4E47-B799-026A19610131}" type="datetimeFigureOut">
              <a:rPr lang="en-ID" smtClean="0"/>
              <a:t>07/04/2026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35882-2AEA-05F4-2442-00F9F8A6B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F7319-4F21-E3EE-08C0-8F6A3DDC7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EF1D-878F-4F92-B81F-388650C191B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09289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E0B894-8BEE-9F59-ED69-FBE0E0D4A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05BD54-1DC9-478F-C2C6-ECD013D10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1C70A-D310-D825-F480-3835BF158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59092-E03F-4E47-B799-026A19610131}" type="datetimeFigureOut">
              <a:rPr lang="en-ID" smtClean="0"/>
              <a:t>07/04/2026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11B6A-373C-E3A6-10E6-2FA64EF632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20B8E-140F-2A39-691B-0E0ABC2199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1EF1D-878F-4F92-B81F-388650C191B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02074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65832-917D-87DB-402F-2A1F01842D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Network Diagram &amp; Precedence Diagram Method (PDM)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14920A-067A-364C-D47A-B29EBD3866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2750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BEC66-34D9-B2D3-47A6-C31DC3FDB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Fungsi</a:t>
            </a:r>
            <a:r>
              <a:rPr lang="en-US" dirty="0"/>
              <a:t> Network Diagram &amp; Precedence Diagram Method (PDM)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39DBC-E58B-C988-38BF-4C70DE197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Menggambarkan </a:t>
            </a:r>
            <a:r>
              <a:rPr lang="sv-SE" b="1" dirty="0"/>
              <a:t>urutan aktivitas dan hubungan ketergantungan antar pekerjaan</a:t>
            </a:r>
          </a:p>
          <a:p>
            <a:r>
              <a:rPr lang="sv-SE" b="1" dirty="0"/>
              <a:t>Fungsi  network diagram </a:t>
            </a:r>
          </a:p>
          <a:p>
            <a:pPr marL="0" indent="0">
              <a:buNone/>
            </a:pPr>
            <a:r>
              <a:rPr lang="sv-SE" b="1" dirty="0"/>
              <a:t>  1. </a:t>
            </a:r>
            <a:r>
              <a:rPr lang="en-ID" dirty="0" err="1"/>
              <a:t>Menentukan</a:t>
            </a:r>
            <a:r>
              <a:rPr lang="en-ID" dirty="0"/>
              <a:t> </a:t>
            </a:r>
            <a:r>
              <a:rPr lang="en-ID" dirty="0" err="1"/>
              <a:t>Urutan</a:t>
            </a:r>
            <a:r>
              <a:rPr lang="en-ID" dirty="0"/>
              <a:t> </a:t>
            </a:r>
            <a:r>
              <a:rPr lang="en-ID" dirty="0" err="1"/>
              <a:t>Pekerjaan</a:t>
            </a:r>
            <a:endParaRPr lang="en-ID" dirty="0"/>
          </a:p>
          <a:p>
            <a:pPr marL="0" indent="0">
              <a:buNone/>
            </a:pPr>
            <a:r>
              <a:rPr lang="en-ID" dirty="0"/>
              <a:t>  2. </a:t>
            </a:r>
            <a:r>
              <a:rPr lang="en-ID" dirty="0" err="1"/>
              <a:t>Mengidentifikasi</a:t>
            </a:r>
            <a:r>
              <a:rPr lang="en-ID" dirty="0"/>
              <a:t> </a:t>
            </a:r>
            <a:r>
              <a:rPr lang="en-ID" dirty="0" err="1"/>
              <a:t>Ketergantungan</a:t>
            </a:r>
            <a:r>
              <a:rPr lang="en-ID" dirty="0"/>
              <a:t> </a:t>
            </a:r>
            <a:r>
              <a:rPr lang="en-ID" dirty="0" err="1"/>
              <a:t>Aktivitas</a:t>
            </a:r>
            <a:endParaRPr lang="en-ID" dirty="0"/>
          </a:p>
          <a:p>
            <a:pPr marL="0" indent="0">
              <a:buNone/>
            </a:pPr>
            <a:r>
              <a:rPr lang="en-ID" dirty="0"/>
              <a:t>  3. </a:t>
            </a:r>
            <a:r>
              <a:rPr lang="en-ID" dirty="0" err="1"/>
              <a:t>Menentukan</a:t>
            </a:r>
            <a:r>
              <a:rPr lang="en-ID" dirty="0"/>
              <a:t> Critical Path</a:t>
            </a:r>
          </a:p>
          <a:p>
            <a:pPr marL="0" indent="0">
              <a:buNone/>
            </a:pPr>
            <a:r>
              <a:rPr lang="en-ID" dirty="0"/>
              <a:t>  4. </a:t>
            </a:r>
            <a:r>
              <a:rPr lang="de-DE" dirty="0"/>
              <a:t>Menghitung Waktu (ES, EF, LS, LF)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15523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99AD1-6679-4340-B9FF-EDCBD6C39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/>
              <a:t>Critical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A7C02-FB95-76A0-D910-828E0B217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/>
              <a:t>Critical Path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menentukan</a:t>
            </a:r>
            <a:r>
              <a:rPr lang="en-ID" dirty="0"/>
              <a:t> </a:t>
            </a:r>
            <a:r>
              <a:rPr lang="en-ID" dirty="0" err="1"/>
              <a:t>jalur</a:t>
            </a:r>
            <a:r>
              <a:rPr lang="en-ID" dirty="0"/>
              <a:t> </a:t>
            </a:r>
            <a:r>
              <a:rPr lang="en-ID" dirty="0" err="1"/>
              <a:t>aktivitas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b="1" dirty="0" err="1"/>
              <a:t>durasi</a:t>
            </a:r>
            <a:r>
              <a:rPr lang="en-ID" b="1" dirty="0"/>
              <a:t> </a:t>
            </a:r>
            <a:r>
              <a:rPr lang="en-ID" b="1" dirty="0" err="1"/>
              <a:t>terpanjang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awal</a:t>
            </a:r>
            <a:r>
              <a:rPr lang="en-ID" dirty="0"/>
              <a:t> </a:t>
            </a:r>
            <a:r>
              <a:rPr lang="en-ID" dirty="0" err="1"/>
              <a:t>sampai</a:t>
            </a:r>
            <a:r>
              <a:rPr lang="en-ID" dirty="0"/>
              <a:t> </a:t>
            </a:r>
            <a:r>
              <a:rPr lang="en-ID" dirty="0" err="1"/>
              <a:t>akhir</a:t>
            </a:r>
            <a:r>
              <a:rPr lang="en-ID" dirty="0"/>
              <a:t> </a:t>
            </a:r>
            <a:r>
              <a:rPr lang="en-ID" dirty="0" err="1"/>
              <a:t>proyek</a:t>
            </a:r>
            <a:r>
              <a:rPr lang="en-ID" dirty="0"/>
              <a:t>.</a:t>
            </a:r>
          </a:p>
          <a:p>
            <a:r>
              <a:rPr lang="en-ID" dirty="0"/>
              <a:t>Jika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aktivitas</a:t>
            </a:r>
            <a:r>
              <a:rPr lang="en-ID" dirty="0"/>
              <a:t> </a:t>
            </a:r>
            <a:r>
              <a:rPr lang="en-ID" dirty="0" err="1"/>
              <a:t>terlambat</a:t>
            </a:r>
            <a:r>
              <a:rPr lang="en-ID" dirty="0"/>
              <a:t> → </a:t>
            </a:r>
            <a:r>
              <a:rPr lang="en-ID" dirty="0" err="1"/>
              <a:t>seluruh</a:t>
            </a:r>
            <a:r>
              <a:rPr lang="en-ID" dirty="0"/>
              <a:t> </a:t>
            </a:r>
            <a:r>
              <a:rPr lang="en-ID" dirty="0" err="1"/>
              <a:t>proyek</a:t>
            </a:r>
            <a:r>
              <a:rPr lang="en-ID" dirty="0"/>
              <a:t> </a:t>
            </a:r>
            <a:r>
              <a:rPr lang="en-ID" dirty="0" err="1"/>
              <a:t>ikut</a:t>
            </a:r>
            <a:r>
              <a:rPr lang="en-ID" dirty="0"/>
              <a:t> </a:t>
            </a:r>
            <a:r>
              <a:rPr lang="en-ID" dirty="0" err="1"/>
              <a:t>terlambat</a:t>
            </a:r>
            <a:endParaRPr lang="en-ID" dirty="0"/>
          </a:p>
          <a:p>
            <a:r>
              <a:rPr lang="en-ID" dirty="0"/>
              <a:t>Tidak punya slack (float = 0)</a:t>
            </a:r>
          </a:p>
          <a:p>
            <a:r>
              <a:rPr lang="en-ID" dirty="0" err="1"/>
              <a:t>Rumus</a:t>
            </a:r>
            <a:r>
              <a:rPr lang="en-ID" dirty="0"/>
              <a:t> </a:t>
            </a:r>
            <a:r>
              <a:rPr lang="en-ID" dirty="0">
                <a:sym typeface="Wingdings" panose="05000000000000000000" pitchFamily="2" charset="2"/>
              </a:rPr>
              <a:t> </a:t>
            </a:r>
            <a:r>
              <a:rPr lang="en-ID" dirty="0"/>
              <a:t>Slack = LS – ES</a:t>
            </a:r>
          </a:p>
          <a:p>
            <a:pPr marL="0" indent="0">
              <a:buNone/>
            </a:pPr>
            <a:r>
              <a:rPr lang="en-ID" dirty="0"/>
              <a:t>		LS =Late Strat   </a:t>
            </a:r>
            <a:r>
              <a:rPr lang="en-ID" dirty="0">
                <a:sym typeface="Wingdings" panose="05000000000000000000" pitchFamily="2" charset="2"/>
              </a:rPr>
              <a:t></a:t>
            </a:r>
            <a:r>
              <a:rPr lang="en-ID" dirty="0" err="1">
                <a:sym typeface="Wingdings" panose="05000000000000000000" pitchFamily="2" charset="2"/>
              </a:rPr>
              <a:t>waktu</a:t>
            </a:r>
            <a:r>
              <a:rPr lang="en-ID" dirty="0">
                <a:sym typeface="Wingdings" panose="05000000000000000000" pitchFamily="2" charset="2"/>
              </a:rPr>
              <a:t> Mulai </a:t>
            </a:r>
            <a:r>
              <a:rPr lang="en-ID" dirty="0" err="1">
                <a:sym typeface="Wingdings" panose="05000000000000000000" pitchFamily="2" charset="2"/>
              </a:rPr>
              <a:t>Terlambat</a:t>
            </a:r>
            <a:endParaRPr lang="en-ID" dirty="0"/>
          </a:p>
          <a:p>
            <a:pPr marL="0" indent="0">
              <a:buNone/>
            </a:pPr>
            <a:r>
              <a:rPr lang="en-ID" dirty="0"/>
              <a:t>		ES = Early Strat </a:t>
            </a:r>
            <a:r>
              <a:rPr lang="en-ID" dirty="0">
                <a:sym typeface="Wingdings" panose="05000000000000000000" pitchFamily="2" charset="2"/>
              </a:rPr>
              <a:t> Waktu Mulai </a:t>
            </a:r>
            <a:r>
              <a:rPr lang="en-ID" dirty="0" err="1">
                <a:sym typeface="Wingdings" panose="05000000000000000000" pitchFamily="2" charset="2"/>
              </a:rPr>
              <a:t>Tercepat</a:t>
            </a:r>
            <a:endParaRPr lang="en-ID" dirty="0"/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46543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C3D16-3AD9-4B90-B17A-489DC9DE8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Rumus</a:t>
            </a: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7B26B0-315F-D107-2CC5-64B49444B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07" y="2074915"/>
            <a:ext cx="5731764" cy="28773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F597946-414C-487C-D295-5D74ECABAE38}"/>
              </a:ext>
            </a:extLst>
          </p:cNvPr>
          <p:cNvSpPr txBox="1"/>
          <p:nvPr/>
        </p:nvSpPr>
        <p:spPr>
          <a:xfrm>
            <a:off x="655607" y="1737801"/>
            <a:ext cx="2256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Metode Forward Pass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1592321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590EF-E323-308A-252D-D9AE90573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Rumus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05B03-7D48-CF59-1B3A-38E9CC21B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Metode Forward Pass</a:t>
            </a:r>
            <a:endParaRPr lang="en-ID" dirty="0"/>
          </a:p>
          <a:p>
            <a:endParaRPr lang="en-ID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76EF965-A467-B79A-5347-8C4FB8A4EE1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6612" y="2526179"/>
            <a:ext cx="5157787" cy="2589867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574A38-DBA3-12A0-D05F-CD0F1C2586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560393"/>
            <a:ext cx="5183188" cy="823912"/>
          </a:xfrm>
        </p:spPr>
        <p:txBody>
          <a:bodyPr anchor="t"/>
          <a:lstStyle/>
          <a:p>
            <a:r>
              <a:rPr lang="en-US" dirty="0"/>
              <a:t>Metode Backward Pass</a:t>
            </a:r>
            <a:endParaRPr lang="en-ID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779A3CD-1412-EA57-21D9-91F937981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236" y="2384305"/>
            <a:ext cx="5731764" cy="302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61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BB93B-9899-6EC6-CA9C-3988D24B1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Network Diagram</a:t>
            </a:r>
            <a:endParaRPr lang="en-ID" dirty="0"/>
          </a:p>
        </p:txBody>
      </p:sp>
      <p:pic>
        <p:nvPicPr>
          <p:cNvPr id="4" name="Google Shape;185;p19">
            <a:extLst>
              <a:ext uri="{FF2B5EF4-FFF2-40B4-BE49-F238E27FC236}">
                <a16:creationId xmlns:a16="http://schemas.microsoft.com/office/drawing/2014/main" id="{4D834E6F-3B45-1267-1B2D-7551529449DE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/>
          <a:stretch/>
        </p:blipFill>
        <p:spPr>
          <a:xfrm>
            <a:off x="2614612" y="2420144"/>
            <a:ext cx="6962775" cy="3162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0318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36D76-6902-079E-04C9-CD8A0CFCF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Precedence Diagram Method (PDM)</a:t>
            </a:r>
            <a:endParaRPr lang="en-ID" dirty="0"/>
          </a:p>
        </p:txBody>
      </p:sp>
      <p:pic>
        <p:nvPicPr>
          <p:cNvPr id="4" name="Google Shape;216;p24" descr="86921_06_F04.jpg">
            <a:extLst>
              <a:ext uri="{FF2B5EF4-FFF2-40B4-BE49-F238E27FC236}">
                <a16:creationId xmlns:a16="http://schemas.microsoft.com/office/drawing/2014/main" id="{287D0997-463A-8766-E598-6AE33B7D2FB9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/>
          <a:stretch/>
        </p:blipFill>
        <p:spPr>
          <a:xfrm>
            <a:off x="2405062" y="1920081"/>
            <a:ext cx="7381875" cy="4162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02481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4144-B0D4-D9DA-BFAE-C7B5ABE2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Kasus</a:t>
            </a:r>
            <a:endParaRPr lang="en-ID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A811BEE-A9F5-5D72-122E-E31639CEB9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56711" y="2134073"/>
            <a:ext cx="4078577" cy="14570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A7A608-3F8A-0DAC-3B7C-C5452A870E4B}"/>
              </a:ext>
            </a:extLst>
          </p:cNvPr>
          <p:cNvSpPr txBox="1"/>
          <p:nvPr/>
        </p:nvSpPr>
        <p:spPr>
          <a:xfrm>
            <a:off x="1037326" y="4164977"/>
            <a:ext cx="60945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 err="1"/>
              <a:t>Pertanyaan</a:t>
            </a:r>
            <a:endParaRPr lang="en-ID" dirty="0"/>
          </a:p>
          <a:p>
            <a:r>
              <a:rPr lang="en-ID" dirty="0"/>
              <a:t>Buat network diagram </a:t>
            </a:r>
            <a:r>
              <a:rPr lang="en-ID" dirty="0" err="1"/>
              <a:t>metode</a:t>
            </a:r>
            <a:r>
              <a:rPr lang="en-ID" dirty="0"/>
              <a:t> Precedence Diagramming Method</a:t>
            </a:r>
          </a:p>
          <a:p>
            <a:r>
              <a:rPr lang="en-ID" dirty="0" err="1"/>
              <a:t>Tentukan:ES</a:t>
            </a:r>
            <a:r>
              <a:rPr lang="en-ID" dirty="0"/>
              <a:t>, EF, LS, LF </a:t>
            </a:r>
          </a:p>
          <a:p>
            <a:r>
              <a:rPr lang="en-ID" dirty="0" err="1"/>
              <a:t>Tentukan</a:t>
            </a:r>
            <a:r>
              <a:rPr lang="en-ID" dirty="0"/>
              <a:t> critical path</a:t>
            </a:r>
          </a:p>
          <a:p>
            <a:r>
              <a:rPr lang="en-ID" dirty="0" err="1"/>
              <a:t>Berapa</a:t>
            </a:r>
            <a:r>
              <a:rPr lang="en-ID" dirty="0"/>
              <a:t> </a:t>
            </a:r>
            <a:r>
              <a:rPr lang="en-ID" dirty="0" err="1"/>
              <a:t>durasi</a:t>
            </a:r>
            <a:r>
              <a:rPr lang="en-ID" dirty="0"/>
              <a:t> total </a:t>
            </a:r>
            <a:r>
              <a:rPr lang="en-ID" dirty="0" err="1"/>
              <a:t>proyek</a:t>
            </a:r>
            <a:r>
              <a:rPr lang="en-ID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90964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55A30-6D5D-4049-0FEC-867EBC254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472169-5F68-A278-D25C-379F22DD9600}"/>
              </a:ext>
            </a:extLst>
          </p:cNvPr>
          <p:cNvSpPr txBox="1"/>
          <p:nvPr/>
        </p:nvSpPr>
        <p:spPr>
          <a:xfrm>
            <a:off x="5400136" y="1829667"/>
            <a:ext cx="6094562" cy="356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D" sz="1800" b="1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⏱️</a:t>
            </a:r>
            <a:r>
              <a:rPr lang="en-ID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4. </a:t>
            </a:r>
            <a:r>
              <a:rPr lang="en-ID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Hitung</a:t>
            </a:r>
            <a:r>
              <a:rPr lang="en-ID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Forward Pass (Waktu Maju)</a:t>
            </a:r>
            <a:endParaRPr lang="en-ID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D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Menentukan</a:t>
            </a:r>
            <a:r>
              <a:rPr lang="en-ID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 (Early Start)</a:t>
            </a:r>
            <a:r>
              <a:rPr lang="en-ID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D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waktu</a:t>
            </a:r>
            <a:r>
              <a:rPr lang="en-ID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mulai</a:t>
            </a:r>
            <a:r>
              <a:rPr lang="en-ID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tercepat</a:t>
            </a:r>
            <a:endParaRPr lang="en-ID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 (Early Finish)</a:t>
            </a:r>
            <a:r>
              <a:rPr lang="en-ID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ES + </a:t>
            </a:r>
            <a:r>
              <a:rPr lang="en-ID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durasi</a:t>
            </a:r>
            <a:endParaRPr lang="en-ID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D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Contoh</a:t>
            </a:r>
            <a:r>
              <a:rPr lang="en-ID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A: ES=0 → EF=2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B: ES=2 → EF=5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D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C: ES=2 → EF=6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D: ES=6 → EF=8</a:t>
            </a:r>
            <a:endParaRPr lang="en-ID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02141C61-F3D8-70FA-63C7-C896121491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7189094"/>
              </p:ext>
            </p:extLst>
          </p:nvPr>
        </p:nvGraphicFramePr>
        <p:xfrm>
          <a:off x="697302" y="2011110"/>
          <a:ext cx="4073106" cy="1417890"/>
        </p:xfrm>
        <a:graphic>
          <a:graphicData uri="http://schemas.openxmlformats.org/drawingml/2006/table">
            <a:tbl>
              <a:tblPr firstRow="1" firstCol="1" bandRow="1"/>
              <a:tblGrid>
                <a:gridCol w="1357702">
                  <a:extLst>
                    <a:ext uri="{9D8B030D-6E8A-4147-A177-3AD203B41FA5}">
                      <a16:colId xmlns:a16="http://schemas.microsoft.com/office/drawing/2014/main" val="352457560"/>
                    </a:ext>
                  </a:extLst>
                </a:gridCol>
                <a:gridCol w="1357702">
                  <a:extLst>
                    <a:ext uri="{9D8B030D-6E8A-4147-A177-3AD203B41FA5}">
                      <a16:colId xmlns:a16="http://schemas.microsoft.com/office/drawing/2014/main" val="3054126889"/>
                    </a:ext>
                  </a:extLst>
                </a:gridCol>
                <a:gridCol w="1357702">
                  <a:extLst>
                    <a:ext uri="{9D8B030D-6E8A-4147-A177-3AD203B41FA5}">
                      <a16:colId xmlns:a16="http://schemas.microsoft.com/office/drawing/2014/main" val="4073108641"/>
                    </a:ext>
                  </a:extLst>
                </a:gridCol>
              </a:tblGrid>
              <a:tr h="2835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Aktivitas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Durasi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Ketergantungan</a:t>
                      </a:r>
                      <a:endParaRPr lang="en-ID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249129"/>
                  </a:ext>
                </a:extLst>
              </a:tr>
              <a:tr h="2835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 hari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4797742"/>
                  </a:ext>
                </a:extLst>
              </a:tr>
              <a:tr h="2835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 hari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28579"/>
                  </a:ext>
                </a:extLst>
              </a:tr>
              <a:tr h="2835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 hari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9708011"/>
                  </a:ext>
                </a:extLst>
              </a:tr>
              <a:tr h="2835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 hari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11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B, C</a:t>
                      </a: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0693249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1EFBC865-DDF9-366E-7C4C-C5D0B3618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0898" y="-1416139"/>
            <a:ext cx="472244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Contoh sederhana: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D0314B1-A537-0704-02CA-B110DD83A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07" y="3971498"/>
            <a:ext cx="5964878" cy="299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109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51BEE-8935-B699-56C5-E46D94F24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Kasus</a:t>
            </a:r>
            <a:endParaRPr lang="en-ID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F79681F-CC1D-0D7B-B420-C0A1CD43066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26056" y="1690688"/>
          <a:ext cx="10515600" cy="25603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64348789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6715904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1761491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738656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Kode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Aktivitas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Durasi (hari)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Predecessor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275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Analisis kebutuhan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/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611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Desain sistem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6395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Desain 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696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/>
                        <a:t>Coding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B, 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301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615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Deployment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/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749851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6C3FDE7-4E0F-2991-5F6E-323782DC1F26}"/>
              </a:ext>
            </a:extLst>
          </p:cNvPr>
          <p:cNvSpPr txBox="1"/>
          <p:nvPr/>
        </p:nvSpPr>
        <p:spPr>
          <a:xfrm>
            <a:off x="580126" y="4977290"/>
            <a:ext cx="672644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Pertanyaan</a:t>
            </a: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Buat network diagram </a:t>
            </a:r>
            <a:r>
              <a:rPr kumimoji="0" lang="en-ID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metode</a:t>
            </a:r>
            <a:r>
              <a:rPr kumimoji="0" lang="en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Precedence Diagramming Method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Tentukan:ES</a:t>
            </a:r>
            <a:r>
              <a:rPr kumimoji="0" lang="en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EF, LS, LF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Tentukan</a:t>
            </a:r>
            <a:r>
              <a:rPr kumimoji="0" lang="en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critical path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Berapa</a:t>
            </a:r>
            <a:r>
              <a:rPr kumimoji="0" lang="en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ID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durasi</a:t>
            </a:r>
            <a:r>
              <a:rPr kumimoji="0" lang="en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total </a:t>
            </a:r>
            <a:r>
              <a:rPr kumimoji="0" lang="en-ID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proyek</a:t>
            </a:r>
            <a:r>
              <a:rPr kumimoji="0" lang="en-ID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64673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330</Words>
  <Application>Microsoft Office PowerPoint</Application>
  <PresentationFormat>Widescreen</PresentationFormat>
  <Paragraphs>89</Paragraphs>
  <Slides>10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Segoe UI Emoji</vt:lpstr>
      <vt:lpstr>Symbol</vt:lpstr>
      <vt:lpstr>Wingdings</vt:lpstr>
      <vt:lpstr>Office Theme</vt:lpstr>
      <vt:lpstr>Network Diagram &amp; Precedence Diagram Method (PDM)</vt:lpstr>
      <vt:lpstr>Fungsi Network Diagram &amp; Precedence Diagram Method (PDM)</vt:lpstr>
      <vt:lpstr>Critical Path</vt:lpstr>
      <vt:lpstr>Rumus</vt:lpstr>
      <vt:lpstr>Rumus</vt:lpstr>
      <vt:lpstr>Contoh Network Diagram</vt:lpstr>
      <vt:lpstr>Contoh Precedence Diagram Method (PDM)</vt:lpstr>
      <vt:lpstr>Contoh Kasus</vt:lpstr>
      <vt:lpstr>PowerPoint Presentation</vt:lpstr>
      <vt:lpstr>Contoh Kasus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NIA AMBARSARI</dc:creator>
  <cp:lastModifiedBy>NIA AMBARSARI</cp:lastModifiedBy>
  <cp:revision>7</cp:revision>
  <dcterms:created xsi:type="dcterms:W3CDTF">2026-04-05T21:34:13Z</dcterms:created>
  <dcterms:modified xsi:type="dcterms:W3CDTF">2026-04-07T05:05:19Z</dcterms:modified>
</cp:coreProperties>
</file>